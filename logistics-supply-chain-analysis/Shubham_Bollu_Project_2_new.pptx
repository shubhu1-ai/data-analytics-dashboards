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7" r:id="rId1"/>
  </p:sldMasterIdLst>
  <p:sldIdLst>
    <p:sldId id="256" r:id="rId2"/>
    <p:sldId id="260" r:id="rId3"/>
    <p:sldId id="257" r:id="rId4"/>
    <p:sldId id="258" r:id="rId5"/>
    <p:sldId id="259"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F7636B-FF9A-8DB1-A6E2-9AD9BDD99E4B}" v="103" dt="2025-10-28T16:03:36.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10/28/2025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87332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10/28/2025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6262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10/28/2025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50506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10/28/2025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0647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10/28/2025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465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10/28/2025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005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10/28/2025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09182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10/28/2025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46027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10/28/2025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6416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10/28/2025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98649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10/28/2025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51971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10/28/2025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764051562"/>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0" r:id="rId6"/>
    <p:sldLayoutId id="2147483836" r:id="rId7"/>
    <p:sldLayoutId id="2147483837" r:id="rId8"/>
    <p:sldLayoutId id="2147483838" r:id="rId9"/>
    <p:sldLayoutId id="2147483839" r:id="rId10"/>
    <p:sldLayoutId id="214748384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E01013C5-0169-8F8C-FA57-62D87022A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map of the world&#10;&#10;AI-generated content may be incorrect.">
            <a:extLst>
              <a:ext uri="{FF2B5EF4-FFF2-40B4-BE49-F238E27FC236}">
                <a16:creationId xmlns:a16="http://schemas.microsoft.com/office/drawing/2014/main" id="{FCE9C09D-B516-BF80-FF59-39683AA7DF4C}"/>
              </a:ext>
            </a:extLst>
          </p:cNvPr>
          <p:cNvPicPr>
            <a:picLocks noChangeAspect="1"/>
          </p:cNvPicPr>
          <p:nvPr/>
        </p:nvPicPr>
        <p:blipFill>
          <a:blip r:embed="rId2"/>
          <a:srcRect l="2138" t="9091" r="17862"/>
          <a:stretch>
            <a:fillRect/>
          </a:stretch>
        </p:blipFill>
        <p:spPr>
          <a:xfrm>
            <a:off x="20" y="10"/>
            <a:ext cx="12191980" cy="6857990"/>
          </a:xfrm>
          <a:prstGeom prst="rect">
            <a:avLst/>
          </a:prstGeom>
        </p:spPr>
      </p:pic>
      <p:sp>
        <p:nvSpPr>
          <p:cNvPr id="39" name="Rectangle 38">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2932"/>
            <a:ext cx="12192000" cy="4285068"/>
          </a:xfrm>
          <a:prstGeom prst="rect">
            <a:avLst/>
          </a:prstGeom>
          <a:gradFill>
            <a:gsLst>
              <a:gs pos="0">
                <a:srgbClr val="000000">
                  <a:alpha val="0"/>
                </a:srgbClr>
              </a:gs>
              <a:gs pos="55000">
                <a:srgbClr val="000000">
                  <a:alpha val="52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731821" y="4861182"/>
            <a:ext cx="8728364" cy="692240"/>
          </a:xfrm>
          <a:solidFill>
            <a:schemeClr val="bg2">
              <a:lumMod val="90000"/>
            </a:schemeClr>
          </a:solidFill>
        </p:spPr>
        <p:txBody>
          <a:bodyPr>
            <a:normAutofit/>
          </a:bodyPr>
          <a:lstStyle/>
          <a:p>
            <a:r>
              <a:rPr lang="en-US">
                <a:solidFill>
                  <a:srgbClr val="FFFFFF"/>
                </a:solidFill>
                <a:latin typeface="Sagona Book"/>
                <a:cs typeface="Sabon Next LT"/>
              </a:rPr>
              <a:t>Logistics_Supply_Chain_Analysis</a:t>
            </a:r>
          </a:p>
        </p:txBody>
      </p:sp>
      <p:sp>
        <p:nvSpPr>
          <p:cNvPr id="3" name="Subtitle 2"/>
          <p:cNvSpPr>
            <a:spLocks noGrp="1"/>
          </p:cNvSpPr>
          <p:nvPr>
            <p:ph type="subTitle" idx="1"/>
          </p:nvPr>
        </p:nvSpPr>
        <p:spPr>
          <a:xfrm>
            <a:off x="8228874" y="5541758"/>
            <a:ext cx="2231311" cy="462174"/>
          </a:xfrm>
          <a:solidFill>
            <a:schemeClr val="bg2">
              <a:lumMod val="90000"/>
            </a:schemeClr>
          </a:solidFill>
        </p:spPr>
        <p:txBody>
          <a:bodyPr vert="horz" lIns="91440" tIns="45720" rIns="91440" bIns="45720" rtlCol="0">
            <a:normAutofit/>
          </a:bodyPr>
          <a:lstStyle/>
          <a:p>
            <a:r>
              <a:rPr lang="en-US">
                <a:solidFill>
                  <a:srgbClr val="FFFFFF"/>
                </a:solidFill>
              </a:rPr>
              <a:t>~ Shubham Bollu</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67814-E0BD-BE72-8A4B-99B00B8DDD0D}"/>
              </a:ext>
            </a:extLst>
          </p:cNvPr>
          <p:cNvSpPr>
            <a:spLocks noGrp="1"/>
          </p:cNvSpPr>
          <p:nvPr>
            <p:ph type="title"/>
          </p:nvPr>
        </p:nvSpPr>
        <p:spPr>
          <a:xfrm>
            <a:off x="176531" y="302504"/>
            <a:ext cx="6054842" cy="664364"/>
          </a:xfrm>
          <a:solidFill>
            <a:schemeClr val="bg1"/>
          </a:solidFill>
          <a:ln w="28575">
            <a:solidFill>
              <a:srgbClr val="4472C4"/>
            </a:solidFill>
          </a:ln>
        </p:spPr>
        <p:txBody>
          <a:bodyPr/>
          <a:lstStyle/>
          <a:p>
            <a:r>
              <a:rPr lang="en-US" dirty="0">
                <a:solidFill>
                  <a:srgbClr val="107573"/>
                </a:solidFill>
              </a:rPr>
              <a:t>Total Analysis by Country</a:t>
            </a:r>
          </a:p>
        </p:txBody>
      </p:sp>
      <p:pic>
        <p:nvPicPr>
          <p:cNvPr id="4" name="Picture 3" descr="A map of the world with numbers and a number of countries/regions&#10;&#10;AI-generated content may be incorrect.">
            <a:extLst>
              <a:ext uri="{FF2B5EF4-FFF2-40B4-BE49-F238E27FC236}">
                <a16:creationId xmlns:a16="http://schemas.microsoft.com/office/drawing/2014/main" id="{D1595A92-B8C3-09D2-4858-26021DD3B62D}"/>
              </a:ext>
            </a:extLst>
          </p:cNvPr>
          <p:cNvPicPr>
            <a:picLocks noChangeAspect="1"/>
          </p:cNvPicPr>
          <p:nvPr/>
        </p:nvPicPr>
        <p:blipFill>
          <a:blip r:embed="rId2"/>
          <a:stretch>
            <a:fillRect/>
          </a:stretch>
        </p:blipFill>
        <p:spPr>
          <a:xfrm>
            <a:off x="179897" y="1299355"/>
            <a:ext cx="8093683" cy="4602590"/>
          </a:xfrm>
          <a:prstGeom prst="rect">
            <a:avLst/>
          </a:prstGeom>
          <a:ln>
            <a:solidFill>
              <a:schemeClr val="tx1"/>
            </a:solidFill>
          </a:ln>
        </p:spPr>
      </p:pic>
      <p:sp>
        <p:nvSpPr>
          <p:cNvPr id="5" name="TextBox 4">
            <a:extLst>
              <a:ext uri="{FF2B5EF4-FFF2-40B4-BE49-F238E27FC236}">
                <a16:creationId xmlns:a16="http://schemas.microsoft.com/office/drawing/2014/main" id="{7E19A5F7-7DCB-07EC-FD0D-784F8D906FF0}"/>
              </a:ext>
            </a:extLst>
          </p:cNvPr>
          <p:cNvSpPr txBox="1"/>
          <p:nvPr/>
        </p:nvSpPr>
        <p:spPr>
          <a:xfrm>
            <a:off x="8417722" y="970745"/>
            <a:ext cx="3599614" cy="5539978"/>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Key Points:</a:t>
            </a:r>
          </a:p>
          <a:p>
            <a:pPr marL="228600" indent="-228600">
              <a:buFont typeface=""/>
              <a:buChar char="•"/>
            </a:pPr>
            <a:r>
              <a:rPr lang="en-US" sz="1600" dirty="0">
                <a:latin typeface="Calibri"/>
                <a:ea typeface="Calibri"/>
                <a:cs typeface="Calibri"/>
              </a:rPr>
              <a:t>Highest sales and customer activity in the United States (€12.82M sales, 400K orders), France (€5.09M sales, 256K orders), Germany (€3.43M sales, 169K orders), and Mexico (€7.59M sales, 248K orders).</a:t>
            </a:r>
          </a:p>
          <a:p>
            <a:pPr marL="228600" indent="-228600">
              <a:buFont typeface=""/>
              <a:buChar char="•"/>
            </a:pPr>
            <a:r>
              <a:rPr lang="en-US" sz="1600" dirty="0">
                <a:latin typeface="Calibri"/>
                <a:ea typeface="Calibri"/>
                <a:cs typeface="Calibri"/>
              </a:rPr>
              <a:t>Other countries (UK, Brazil, China, India, Italy) have substantial sales but lower figures than the top performers.</a:t>
            </a:r>
          </a:p>
          <a:p>
            <a:pPr marL="228600" indent="-228600">
              <a:buFont typeface=""/>
              <a:buChar char="•"/>
            </a:pPr>
            <a:r>
              <a:rPr lang="en-US" sz="1600" dirty="0">
                <a:latin typeface="Calibri"/>
                <a:ea typeface="Calibri"/>
                <a:cs typeface="Calibri"/>
              </a:rPr>
              <a:t>Margins vary e.g., US profit margin at 11.58%, France at 14.29%, Germany at 8.12%.</a:t>
            </a:r>
          </a:p>
          <a:p>
            <a:pPr marL="228600" indent="-228600">
              <a:buFont typeface=""/>
              <a:buChar char="•"/>
            </a:pPr>
            <a:r>
              <a:rPr lang="en-US" sz="1700" b="1" dirty="0">
                <a:latin typeface="Calibri"/>
                <a:ea typeface="Calibri"/>
                <a:cs typeface="Calibri"/>
              </a:rPr>
              <a:t>Summary:</a:t>
            </a:r>
          </a:p>
          <a:p>
            <a:r>
              <a:rPr lang="en-US" sz="1600" dirty="0">
                <a:latin typeface="Calibri"/>
                <a:ea typeface="Calibri"/>
                <a:cs typeface="Calibri"/>
              </a:rPr>
              <a:t>This cross-country dashboard maps sales, orders, and margin distribution. It identifies the US and France as top markets, meaning strategic focus here could yield continued growth. Margins and customer count highlight profit centers and operational strengths.</a:t>
            </a:r>
          </a:p>
          <a:p>
            <a:endParaRPr lang="en-US" sz="1600">
              <a:latin typeface="Calibri"/>
              <a:ea typeface="Calibri"/>
              <a:cs typeface="Calibri"/>
            </a:endParaRPr>
          </a:p>
        </p:txBody>
      </p:sp>
    </p:spTree>
    <p:extLst>
      <p:ext uri="{BB962C8B-B14F-4D97-AF65-F5344CB8AC3E}">
        <p14:creationId xmlns:p14="http://schemas.microsoft.com/office/powerpoint/2010/main" val="322414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EF221-31E9-9422-3ADC-3806163101F7}"/>
              </a:ext>
            </a:extLst>
          </p:cNvPr>
          <p:cNvSpPr>
            <a:spLocks noGrp="1"/>
          </p:cNvSpPr>
          <p:nvPr>
            <p:ph type="title"/>
          </p:nvPr>
        </p:nvSpPr>
        <p:spPr>
          <a:xfrm>
            <a:off x="141904" y="290038"/>
            <a:ext cx="6255368" cy="664364"/>
          </a:xfrm>
          <a:ln>
            <a:solidFill>
              <a:srgbClr val="4472C4"/>
            </a:solidFill>
          </a:ln>
        </p:spPr>
        <p:txBody>
          <a:bodyPr>
            <a:normAutofit fontScale="90000"/>
          </a:bodyPr>
          <a:lstStyle/>
          <a:p>
            <a:r>
              <a:rPr lang="en-US" dirty="0">
                <a:solidFill>
                  <a:srgbClr val="107573"/>
                </a:solidFill>
              </a:rPr>
              <a:t>Global Sales &amp; Profit Overview</a:t>
            </a:r>
            <a:br>
              <a:rPr lang="en-US" dirty="0">
                <a:solidFill>
                  <a:srgbClr val="107573"/>
                </a:solidFill>
              </a:rPr>
            </a:br>
            <a:endParaRPr lang="en-US" dirty="0">
              <a:solidFill>
                <a:srgbClr val="107573"/>
              </a:solidFill>
            </a:endParaRPr>
          </a:p>
        </p:txBody>
      </p:sp>
      <p:pic>
        <p:nvPicPr>
          <p:cNvPr id="3" name="Picture 2" descr="A screenshot of a graph&#10;&#10;AI-generated content may be incorrect.">
            <a:extLst>
              <a:ext uri="{FF2B5EF4-FFF2-40B4-BE49-F238E27FC236}">
                <a16:creationId xmlns:a16="http://schemas.microsoft.com/office/drawing/2014/main" id="{63BAD58F-4825-6670-8D47-E8358BD9AA62}"/>
              </a:ext>
            </a:extLst>
          </p:cNvPr>
          <p:cNvPicPr>
            <a:picLocks noChangeAspect="1"/>
          </p:cNvPicPr>
          <p:nvPr/>
        </p:nvPicPr>
        <p:blipFill>
          <a:blip r:embed="rId2"/>
          <a:stretch>
            <a:fillRect/>
          </a:stretch>
        </p:blipFill>
        <p:spPr>
          <a:xfrm>
            <a:off x="146418" y="1290761"/>
            <a:ext cx="8344895" cy="5163938"/>
          </a:xfrm>
          <a:prstGeom prst="rect">
            <a:avLst/>
          </a:prstGeom>
          <a:ln>
            <a:solidFill>
              <a:schemeClr val="tx1"/>
            </a:solidFill>
          </a:ln>
        </p:spPr>
      </p:pic>
      <p:sp>
        <p:nvSpPr>
          <p:cNvPr id="4" name="TextBox 3">
            <a:extLst>
              <a:ext uri="{FF2B5EF4-FFF2-40B4-BE49-F238E27FC236}">
                <a16:creationId xmlns:a16="http://schemas.microsoft.com/office/drawing/2014/main" id="{E3032286-7815-7200-3DB3-1CA1AA68FFB1}"/>
              </a:ext>
            </a:extLst>
          </p:cNvPr>
          <p:cNvSpPr txBox="1"/>
          <p:nvPr/>
        </p:nvSpPr>
        <p:spPr>
          <a:xfrm>
            <a:off x="8606853" y="1555229"/>
            <a:ext cx="3597639" cy="4278094"/>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Key Points:</a:t>
            </a:r>
          </a:p>
          <a:p>
            <a:pPr marL="228600" indent="-228600">
              <a:buFont typeface=""/>
              <a:buChar char="•"/>
            </a:pPr>
            <a:r>
              <a:rPr lang="en-US" sz="1600" dirty="0">
                <a:latin typeface="Calibri"/>
                <a:ea typeface="Calibri"/>
                <a:cs typeface="Calibri"/>
              </a:rPr>
              <a:t>Overall global sales: 3M, with a profit margin sum of €2.795M.</a:t>
            </a:r>
          </a:p>
          <a:p>
            <a:pPr marL="228600" indent="-228600">
              <a:buFont typeface=""/>
              <a:buChar char="•"/>
            </a:pPr>
            <a:r>
              <a:rPr lang="en-US" sz="1600" dirty="0">
                <a:latin typeface="Calibri"/>
                <a:ea typeface="Calibri"/>
                <a:cs typeface="Calibri"/>
              </a:rPr>
              <a:t>Sales per market: USCA (1,611), Europe (830), Office/corporate: 2,870/1,408.</a:t>
            </a:r>
          </a:p>
          <a:p>
            <a:pPr marL="228600" indent="-228600">
              <a:buFont typeface=""/>
              <a:buChar char="•"/>
            </a:pPr>
            <a:r>
              <a:rPr lang="en-US" sz="1600" dirty="0">
                <a:latin typeface="Calibri"/>
                <a:ea typeface="Calibri"/>
                <a:cs typeface="Calibri"/>
              </a:rPr>
              <a:t>Sales per year: 399K sales and 2,041 customers in 2016; a fluctuating trend shown over several years.</a:t>
            </a:r>
          </a:p>
          <a:p>
            <a:r>
              <a:rPr lang="en-US" sz="1700" b="1" dirty="0">
                <a:latin typeface="Calibri"/>
                <a:ea typeface="Calibri"/>
                <a:cs typeface="Calibri"/>
              </a:rPr>
              <a:t>Summary:</a:t>
            </a:r>
            <a:br>
              <a:rPr lang="en-US" sz="1600" dirty="0">
                <a:latin typeface="Calibri"/>
                <a:ea typeface="Calibri"/>
                <a:cs typeface="Calibri"/>
              </a:rPr>
            </a:br>
            <a:r>
              <a:rPr lang="en-US" sz="1600" dirty="0">
                <a:latin typeface="Calibri"/>
                <a:ea typeface="Calibri"/>
                <a:cs typeface="Calibri"/>
              </a:rPr>
              <a:t>This overview connects yearly and market segment sales, showing where performance spikes and where growth stagnates. Variation by sector and year helps illuminate future targeting for resource allocation.</a:t>
            </a:r>
          </a:p>
          <a:p>
            <a:pPr algn="ctr"/>
            <a:endParaRPr lang="en-US" sz="1600">
              <a:latin typeface="Calibri"/>
              <a:ea typeface="Calibri"/>
              <a:cs typeface="Calibri"/>
            </a:endParaRPr>
          </a:p>
        </p:txBody>
      </p:sp>
    </p:spTree>
    <p:extLst>
      <p:ext uri="{BB962C8B-B14F-4D97-AF65-F5344CB8AC3E}">
        <p14:creationId xmlns:p14="http://schemas.microsoft.com/office/powerpoint/2010/main" val="1717999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133E-21C9-85E7-768C-6AA6559CCE74}"/>
              </a:ext>
            </a:extLst>
          </p:cNvPr>
          <p:cNvSpPr>
            <a:spLocks noGrp="1"/>
          </p:cNvSpPr>
          <p:nvPr>
            <p:ph type="title"/>
          </p:nvPr>
        </p:nvSpPr>
        <p:spPr>
          <a:xfrm>
            <a:off x="198227" y="361482"/>
            <a:ext cx="4584315" cy="637627"/>
          </a:xfrm>
          <a:ln>
            <a:solidFill>
              <a:srgbClr val="4472C4"/>
            </a:solidFill>
          </a:ln>
        </p:spPr>
        <p:txBody>
          <a:bodyPr/>
          <a:lstStyle/>
          <a:p>
            <a:r>
              <a:rPr lang="en-US" dirty="0">
                <a:solidFill>
                  <a:srgbClr val="107573"/>
                </a:solidFill>
              </a:rPr>
              <a:t>Order Item Analysis</a:t>
            </a:r>
          </a:p>
        </p:txBody>
      </p:sp>
      <p:pic>
        <p:nvPicPr>
          <p:cNvPr id="6" name="Content Placeholder 5" descr="A graph with blue lines and numbers&#10;&#10;AI-generated content may be incorrect.">
            <a:extLst>
              <a:ext uri="{FF2B5EF4-FFF2-40B4-BE49-F238E27FC236}">
                <a16:creationId xmlns:a16="http://schemas.microsoft.com/office/drawing/2014/main" id="{3FDAAF1D-4D59-FA55-C107-C963E01AFCA1}"/>
              </a:ext>
            </a:extLst>
          </p:cNvPr>
          <p:cNvPicPr>
            <a:picLocks noGrp="1" noChangeAspect="1"/>
          </p:cNvPicPr>
          <p:nvPr>
            <p:ph idx="1"/>
          </p:nvPr>
        </p:nvPicPr>
        <p:blipFill>
          <a:blip r:embed="rId2"/>
          <a:srcRect t="5161" r="1326"/>
          <a:stretch>
            <a:fillRect/>
          </a:stretch>
        </p:blipFill>
        <p:spPr>
          <a:xfrm>
            <a:off x="201281" y="1360122"/>
            <a:ext cx="8398978" cy="5032415"/>
          </a:xfrm>
          <a:prstGeom prst="rect">
            <a:avLst/>
          </a:prstGeom>
          <a:ln>
            <a:solidFill>
              <a:schemeClr val="tx1"/>
            </a:solidFill>
          </a:ln>
        </p:spPr>
      </p:pic>
      <p:sp>
        <p:nvSpPr>
          <p:cNvPr id="3" name="TextBox 2">
            <a:extLst>
              <a:ext uri="{FF2B5EF4-FFF2-40B4-BE49-F238E27FC236}">
                <a16:creationId xmlns:a16="http://schemas.microsoft.com/office/drawing/2014/main" id="{6152E970-BF2B-0B0A-626E-BFE7A13DE17A}"/>
              </a:ext>
            </a:extLst>
          </p:cNvPr>
          <p:cNvSpPr txBox="1"/>
          <p:nvPr/>
        </p:nvSpPr>
        <p:spPr>
          <a:xfrm>
            <a:off x="8840252" y="1359087"/>
            <a:ext cx="3191109" cy="4770537"/>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Key Points:</a:t>
            </a:r>
          </a:p>
          <a:p>
            <a:pPr marL="228600" indent="-228600">
              <a:buFont typeface=""/>
              <a:buChar char="•"/>
            </a:pPr>
            <a:r>
              <a:rPr lang="en-US" sz="1600" dirty="0">
                <a:latin typeface="Calibri"/>
                <a:ea typeface="Calibri"/>
                <a:cs typeface="Calibri"/>
              </a:rPr>
              <a:t>Total customers: 15,519; Order quantity: 33,667.</a:t>
            </a:r>
          </a:p>
          <a:p>
            <a:pPr marL="228600" indent="-228600">
              <a:buFont typeface=""/>
              <a:buChar char="•"/>
            </a:pPr>
            <a:r>
              <a:rPr lang="en-US" sz="1600" dirty="0">
                <a:latin typeface="Calibri"/>
                <a:ea typeface="Calibri"/>
                <a:cs typeface="Calibri"/>
              </a:rPr>
              <a:t>Discount rates and average profits per order are visualized, helping track customer activity and profitability.</a:t>
            </a:r>
          </a:p>
          <a:p>
            <a:pPr marL="228600" indent="-228600">
              <a:buFont typeface=""/>
              <a:buChar char="•"/>
            </a:pPr>
            <a:r>
              <a:rPr lang="en-US" sz="1600" dirty="0">
                <a:latin typeface="Calibri"/>
                <a:ea typeface="Calibri"/>
                <a:cs typeface="Calibri"/>
              </a:rPr>
              <a:t>Order item totals range widely, illuminating what products or groups are driving volume.</a:t>
            </a:r>
          </a:p>
          <a:p>
            <a:r>
              <a:rPr lang="en-US" sz="1600" b="1" dirty="0">
                <a:latin typeface="Calibri"/>
                <a:ea typeface="Calibri"/>
                <a:cs typeface="Calibri"/>
              </a:rPr>
              <a:t>Summary:</a:t>
            </a:r>
            <a:br>
              <a:rPr lang="en-US" sz="1600" dirty="0">
                <a:latin typeface="Calibri"/>
                <a:ea typeface="Calibri"/>
                <a:cs typeface="Calibri"/>
              </a:rPr>
            </a:br>
            <a:r>
              <a:rPr lang="en-US" sz="1600" dirty="0">
                <a:latin typeface="Calibri"/>
                <a:ea typeface="Calibri"/>
                <a:cs typeface="Calibri"/>
              </a:rPr>
              <a:t>By reviewing order volume, discounts, and profits, this slide lays out the link between sales incentives and business results. Watching these trends helps optimize pricing and promotional strategies.</a:t>
            </a:r>
          </a:p>
          <a:p>
            <a:pPr algn="ctr"/>
            <a:endParaRPr lang="en-US" sz="1600">
              <a:latin typeface="Calibri"/>
              <a:ea typeface="Calibri"/>
              <a:cs typeface="Calibri"/>
            </a:endParaRPr>
          </a:p>
        </p:txBody>
      </p:sp>
    </p:spTree>
    <p:extLst>
      <p:ext uri="{BB962C8B-B14F-4D97-AF65-F5344CB8AC3E}">
        <p14:creationId xmlns:p14="http://schemas.microsoft.com/office/powerpoint/2010/main" val="2485975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B81EC-800C-3A3A-29B9-A1AB10FE66E1}"/>
              </a:ext>
            </a:extLst>
          </p:cNvPr>
          <p:cNvSpPr>
            <a:spLocks noGrp="1"/>
          </p:cNvSpPr>
          <p:nvPr>
            <p:ph type="title"/>
          </p:nvPr>
        </p:nvSpPr>
        <p:spPr>
          <a:xfrm>
            <a:off x="399736" y="290905"/>
            <a:ext cx="7217894" cy="610891"/>
          </a:xfrm>
          <a:ln>
            <a:solidFill>
              <a:srgbClr val="4472C4"/>
            </a:solidFill>
          </a:ln>
        </p:spPr>
        <p:txBody>
          <a:bodyPr/>
          <a:lstStyle/>
          <a:p>
            <a:r>
              <a:rPr lang="en-US" dirty="0">
                <a:solidFill>
                  <a:srgbClr val="107573"/>
                </a:solidFill>
              </a:rPr>
              <a:t>Top &amp; Bottom Product Analysis</a:t>
            </a:r>
          </a:p>
        </p:txBody>
      </p:sp>
      <p:pic>
        <p:nvPicPr>
          <p:cNvPr id="4" name="Picture 3" descr="A screenshot of a graph&#10;&#10;AI-generated content may be incorrect.">
            <a:extLst>
              <a:ext uri="{FF2B5EF4-FFF2-40B4-BE49-F238E27FC236}">
                <a16:creationId xmlns:a16="http://schemas.microsoft.com/office/drawing/2014/main" id="{DD285932-2D8F-9DCD-09B9-3BC57B73F997}"/>
              </a:ext>
            </a:extLst>
          </p:cNvPr>
          <p:cNvPicPr>
            <a:picLocks noChangeAspect="1"/>
          </p:cNvPicPr>
          <p:nvPr/>
        </p:nvPicPr>
        <p:blipFill>
          <a:blip r:embed="rId2"/>
          <a:srcRect l="-639" t="207" r="852"/>
          <a:stretch>
            <a:fillRect/>
          </a:stretch>
        </p:blipFill>
        <p:spPr>
          <a:xfrm>
            <a:off x="256361" y="1188696"/>
            <a:ext cx="7765969" cy="5390275"/>
          </a:xfrm>
          <a:prstGeom prst="rect">
            <a:avLst/>
          </a:prstGeom>
          <a:ln>
            <a:solidFill>
              <a:schemeClr val="tx1"/>
            </a:solidFill>
          </a:ln>
        </p:spPr>
      </p:pic>
      <p:sp>
        <p:nvSpPr>
          <p:cNvPr id="3" name="TextBox 2">
            <a:extLst>
              <a:ext uri="{FF2B5EF4-FFF2-40B4-BE49-F238E27FC236}">
                <a16:creationId xmlns:a16="http://schemas.microsoft.com/office/drawing/2014/main" id="{43770AE3-4497-CB27-F947-98F898D8AB36}"/>
              </a:ext>
            </a:extLst>
          </p:cNvPr>
          <p:cNvSpPr txBox="1"/>
          <p:nvPr/>
        </p:nvSpPr>
        <p:spPr>
          <a:xfrm>
            <a:off x="8450596" y="1189900"/>
            <a:ext cx="3609256" cy="5293757"/>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Key Points:</a:t>
            </a:r>
            <a:endParaRPr lang="en-US" sz="1700" b="1">
              <a:latin typeface="Calibri"/>
              <a:ea typeface="Calibri"/>
              <a:cs typeface="Calibri"/>
            </a:endParaRPr>
          </a:p>
          <a:p>
            <a:pPr marL="228600" indent="-228600">
              <a:buFont typeface=""/>
              <a:buChar char="•"/>
            </a:pPr>
            <a:r>
              <a:rPr lang="en-US" sz="1600" dirty="0">
                <a:latin typeface="Calibri"/>
                <a:ea typeface="Calibri"/>
                <a:cs typeface="Calibri"/>
              </a:rPr>
              <a:t>Top selling products include Perfect Fitness, Nike </a:t>
            </a:r>
            <a:r>
              <a:rPr lang="en-US" sz="1600" dirty="0" err="1">
                <a:latin typeface="Calibri"/>
                <a:ea typeface="Calibri"/>
                <a:cs typeface="Calibri"/>
              </a:rPr>
              <a:t>Mens</a:t>
            </a:r>
            <a:r>
              <a:rPr lang="en-US" sz="1600" dirty="0">
                <a:latin typeface="Calibri"/>
                <a:ea typeface="Calibri"/>
                <a:cs typeface="Calibri"/>
              </a:rPr>
              <a:t> Dri-FIT, </a:t>
            </a:r>
            <a:r>
              <a:rPr lang="en-US" sz="1600" dirty="0" err="1">
                <a:latin typeface="Calibri"/>
                <a:ea typeface="Calibri"/>
                <a:cs typeface="Calibri"/>
              </a:rPr>
              <a:t>OBrien</a:t>
            </a:r>
            <a:r>
              <a:rPr lang="en-US" sz="1600" dirty="0">
                <a:latin typeface="Calibri"/>
                <a:ea typeface="Calibri"/>
                <a:cs typeface="Calibri"/>
              </a:rPr>
              <a:t> Men's Field Stream, Pelican Sun stream, etc.</a:t>
            </a:r>
          </a:p>
          <a:p>
            <a:pPr marL="228600" indent="-228600">
              <a:buFont typeface=""/>
              <a:buChar char="•"/>
            </a:pPr>
            <a:r>
              <a:rPr lang="en-US" sz="1600" dirty="0">
                <a:latin typeface="Calibri"/>
                <a:ea typeface="Calibri"/>
                <a:cs typeface="Calibri"/>
              </a:rPr>
              <a:t>Highest order count: Perfect Fitness (985), Nike </a:t>
            </a:r>
            <a:r>
              <a:rPr lang="en-US" sz="1600" dirty="0" err="1">
                <a:latin typeface="Calibri"/>
                <a:ea typeface="Calibri"/>
                <a:cs typeface="Calibri"/>
              </a:rPr>
              <a:t>Mens</a:t>
            </a:r>
            <a:r>
              <a:rPr lang="en-US" sz="1600" dirty="0">
                <a:latin typeface="Calibri"/>
                <a:ea typeface="Calibri"/>
                <a:cs typeface="Calibri"/>
              </a:rPr>
              <a:t> Dri-FIT (840), </a:t>
            </a:r>
            <a:r>
              <a:rPr lang="en-US" sz="1600" dirty="0" err="1">
                <a:latin typeface="Calibri"/>
                <a:ea typeface="Calibri"/>
                <a:cs typeface="Calibri"/>
              </a:rPr>
              <a:t>OBrien</a:t>
            </a:r>
            <a:r>
              <a:rPr lang="en-US" sz="1600" dirty="0">
                <a:latin typeface="Calibri"/>
                <a:ea typeface="Calibri"/>
                <a:cs typeface="Calibri"/>
              </a:rPr>
              <a:t> </a:t>
            </a:r>
            <a:r>
              <a:rPr lang="en-US" sz="1600" dirty="0" err="1">
                <a:latin typeface="Calibri"/>
                <a:ea typeface="Calibri"/>
                <a:cs typeface="Calibri"/>
              </a:rPr>
              <a:t>Mens</a:t>
            </a:r>
            <a:r>
              <a:rPr lang="en-US" sz="1600" dirty="0">
                <a:latin typeface="Calibri"/>
                <a:ea typeface="Calibri"/>
                <a:cs typeface="Calibri"/>
              </a:rPr>
              <a:t> Field Stream (802), with others close behind.</a:t>
            </a:r>
          </a:p>
          <a:p>
            <a:pPr marL="228600" indent="-228600">
              <a:buFont typeface=""/>
              <a:buChar char="•"/>
            </a:pPr>
            <a:r>
              <a:rPr lang="en-US" sz="1600" dirty="0">
                <a:latin typeface="Calibri"/>
                <a:ea typeface="Calibri"/>
                <a:cs typeface="Calibri"/>
              </a:rPr>
              <a:t>Bottom products (by region): e.g., Merrell </a:t>
            </a:r>
            <a:r>
              <a:rPr lang="en-US" sz="1600" dirty="0" err="1">
                <a:latin typeface="Calibri"/>
                <a:ea typeface="Calibri"/>
                <a:cs typeface="Calibri"/>
              </a:rPr>
              <a:t>Womens</a:t>
            </a:r>
            <a:r>
              <a:rPr lang="en-US" sz="1600" dirty="0">
                <a:latin typeface="Calibri"/>
                <a:ea typeface="Calibri"/>
                <a:cs typeface="Calibri"/>
              </a:rPr>
              <a:t> (3), </a:t>
            </a:r>
            <a:r>
              <a:rPr lang="en-US" sz="1600" dirty="0" err="1">
                <a:latin typeface="Calibri"/>
                <a:ea typeface="Calibri"/>
                <a:cs typeface="Calibri"/>
              </a:rPr>
              <a:t>Ogio</a:t>
            </a:r>
            <a:r>
              <a:rPr lang="en-US" sz="1600" dirty="0">
                <a:latin typeface="Calibri"/>
                <a:ea typeface="Calibri"/>
                <a:cs typeface="Calibri"/>
              </a:rPr>
              <a:t> Race Golf (2), LIJA </a:t>
            </a:r>
            <a:r>
              <a:rPr lang="en-US" sz="1600" dirty="0" err="1">
                <a:latin typeface="Calibri"/>
                <a:ea typeface="Calibri"/>
                <a:cs typeface="Calibri"/>
              </a:rPr>
              <a:t>Womens</a:t>
            </a:r>
            <a:r>
              <a:rPr lang="en-US" sz="1600" dirty="0">
                <a:latin typeface="Calibri"/>
                <a:ea typeface="Calibri"/>
                <a:cs typeface="Calibri"/>
              </a:rPr>
              <a:t> Arg (2), GoPro HERO3 (2).</a:t>
            </a:r>
          </a:p>
          <a:p>
            <a:r>
              <a:rPr lang="en-US" sz="1700" b="1" dirty="0">
                <a:latin typeface="Calibri"/>
                <a:ea typeface="Calibri"/>
                <a:cs typeface="Calibri"/>
              </a:rPr>
              <a:t>Summary:</a:t>
            </a:r>
            <a:br>
              <a:rPr lang="en-US" sz="1600" dirty="0">
                <a:latin typeface="Calibri"/>
                <a:ea typeface="Calibri"/>
                <a:cs typeface="Calibri"/>
              </a:rPr>
            </a:br>
            <a:r>
              <a:rPr lang="en-US" sz="1600" dirty="0">
                <a:latin typeface="Calibri"/>
                <a:ea typeface="Calibri"/>
                <a:cs typeface="Calibri"/>
              </a:rPr>
              <a:t>This analysis distinguishes best performers from lagging products. Investing in popular items reinforces sales, while underperformers may need review—either for relaunch, improvement, or discontinuation.</a:t>
            </a:r>
          </a:p>
          <a:p>
            <a:pPr algn="ctr"/>
            <a:endParaRPr lang="en-US" sz="1600">
              <a:latin typeface="Calibri"/>
              <a:ea typeface="Calibri"/>
              <a:cs typeface="Calibri"/>
            </a:endParaRPr>
          </a:p>
        </p:txBody>
      </p:sp>
    </p:spTree>
    <p:extLst>
      <p:ext uri="{BB962C8B-B14F-4D97-AF65-F5344CB8AC3E}">
        <p14:creationId xmlns:p14="http://schemas.microsoft.com/office/powerpoint/2010/main" val="565062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EE814-0096-AED6-992D-2036377C35FC}"/>
              </a:ext>
            </a:extLst>
          </p:cNvPr>
          <p:cNvSpPr>
            <a:spLocks noGrp="1"/>
          </p:cNvSpPr>
          <p:nvPr>
            <p:ph type="title"/>
          </p:nvPr>
        </p:nvSpPr>
        <p:spPr>
          <a:xfrm>
            <a:off x="164916" y="231961"/>
            <a:ext cx="3915894" cy="570785"/>
          </a:xfrm>
          <a:ln>
            <a:solidFill>
              <a:srgbClr val="4472C4"/>
            </a:solidFill>
          </a:ln>
        </p:spPr>
        <p:txBody>
          <a:bodyPr>
            <a:normAutofit fontScale="90000"/>
          </a:bodyPr>
          <a:lstStyle/>
          <a:p>
            <a:r>
              <a:rPr lang="en-US" dirty="0">
                <a:solidFill>
                  <a:srgbClr val="107573"/>
                </a:solidFill>
              </a:rPr>
              <a:t>Product Analysis</a:t>
            </a:r>
          </a:p>
        </p:txBody>
      </p:sp>
      <p:pic>
        <p:nvPicPr>
          <p:cNvPr id="4" name="Content Placeholder 3" descr="A screenshot of a computer screen&#10;&#10;AI-generated content may be incorrect.">
            <a:extLst>
              <a:ext uri="{FF2B5EF4-FFF2-40B4-BE49-F238E27FC236}">
                <a16:creationId xmlns:a16="http://schemas.microsoft.com/office/drawing/2014/main" id="{3121A4D1-9F45-C81C-06E2-F65AF052EE9D}"/>
              </a:ext>
            </a:extLst>
          </p:cNvPr>
          <p:cNvPicPr>
            <a:picLocks noGrp="1" noChangeAspect="1"/>
          </p:cNvPicPr>
          <p:nvPr>
            <p:ph idx="1"/>
          </p:nvPr>
        </p:nvPicPr>
        <p:blipFill>
          <a:blip r:embed="rId2"/>
          <a:stretch>
            <a:fillRect/>
          </a:stretch>
        </p:blipFill>
        <p:spPr>
          <a:xfrm>
            <a:off x="161032" y="1079985"/>
            <a:ext cx="8488880" cy="5069361"/>
          </a:xfrm>
          <a:prstGeom prst="rect">
            <a:avLst/>
          </a:prstGeom>
          <a:ln>
            <a:solidFill>
              <a:schemeClr val="tx1"/>
            </a:solidFill>
          </a:ln>
        </p:spPr>
      </p:pic>
      <p:sp>
        <p:nvSpPr>
          <p:cNvPr id="3" name="TextBox 2">
            <a:extLst>
              <a:ext uri="{FF2B5EF4-FFF2-40B4-BE49-F238E27FC236}">
                <a16:creationId xmlns:a16="http://schemas.microsoft.com/office/drawing/2014/main" id="{AEEBA343-DB94-9FE4-F5AC-15BA30EC1FB4}"/>
              </a:ext>
            </a:extLst>
          </p:cNvPr>
          <p:cNvSpPr txBox="1"/>
          <p:nvPr/>
        </p:nvSpPr>
        <p:spPr>
          <a:xfrm>
            <a:off x="8776697" y="814707"/>
            <a:ext cx="3281620" cy="5601533"/>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Key Points:</a:t>
            </a:r>
          </a:p>
          <a:p>
            <a:pPr marL="228600" indent="-228600">
              <a:buFont typeface=""/>
              <a:buChar char="•"/>
            </a:pPr>
            <a:r>
              <a:rPr lang="en-US" dirty="0">
                <a:latin typeface="Calibri"/>
                <a:ea typeface="Calibri"/>
                <a:cs typeface="Calibri"/>
              </a:rPr>
              <a:t>Profit vs discount by product: data plots show how discount rates impact profit per product.</a:t>
            </a:r>
          </a:p>
          <a:p>
            <a:pPr marL="228600" indent="-228600">
              <a:buFont typeface=""/>
              <a:buChar char="•"/>
            </a:pPr>
            <a:r>
              <a:rPr lang="en-US" dirty="0">
                <a:latin typeface="Calibri"/>
                <a:ea typeface="Calibri"/>
                <a:cs typeface="Calibri"/>
              </a:rPr>
              <a:t>Top product (Field Stream Sportsman 16 Gun Safe): order profit 18K, avg. discount rate 9.96%.</a:t>
            </a:r>
          </a:p>
          <a:p>
            <a:pPr marL="228600" indent="-228600">
              <a:buFont typeface=""/>
              <a:buChar char="•"/>
            </a:pPr>
            <a:r>
              <a:rPr lang="en-US" dirty="0">
                <a:latin typeface="Calibri"/>
                <a:ea typeface="Calibri"/>
                <a:cs typeface="Calibri"/>
              </a:rPr>
              <a:t>Market and order quantity variation by year and product category.</a:t>
            </a:r>
          </a:p>
          <a:p>
            <a:r>
              <a:rPr lang="en-US" sz="1700" b="1" dirty="0">
                <a:latin typeface="Calibri"/>
                <a:ea typeface="Calibri"/>
                <a:cs typeface="Calibri"/>
              </a:rPr>
              <a:t>Summary:</a:t>
            </a:r>
            <a:br>
              <a:rPr lang="en-US" dirty="0">
                <a:latin typeface="Calibri"/>
                <a:ea typeface="Calibri"/>
                <a:cs typeface="Calibri"/>
              </a:rPr>
            </a:br>
            <a:r>
              <a:rPr lang="en-US" dirty="0">
                <a:latin typeface="Calibri"/>
                <a:ea typeface="Calibri"/>
                <a:cs typeface="Calibri"/>
              </a:rPr>
              <a:t>Showing how discounting and category diversity affect profit, this slide encourages dynamic strategies for price management. Monitoring these metrics keeps product portfolios profitable and competitive.</a:t>
            </a:r>
          </a:p>
        </p:txBody>
      </p:sp>
    </p:spTree>
    <p:extLst>
      <p:ext uri="{BB962C8B-B14F-4D97-AF65-F5344CB8AC3E}">
        <p14:creationId xmlns:p14="http://schemas.microsoft.com/office/powerpoint/2010/main" val="4027873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7A344-7CF6-1A38-4DE3-F8199E00F095}"/>
              </a:ext>
            </a:extLst>
          </p:cNvPr>
          <p:cNvSpPr>
            <a:spLocks noGrp="1"/>
          </p:cNvSpPr>
          <p:nvPr>
            <p:ph type="title"/>
          </p:nvPr>
        </p:nvSpPr>
        <p:spPr>
          <a:xfrm>
            <a:off x="262878" y="298804"/>
            <a:ext cx="9530631" cy="704469"/>
          </a:xfrm>
          <a:ln>
            <a:solidFill>
              <a:srgbClr val="4472C4"/>
            </a:solidFill>
          </a:ln>
        </p:spPr>
        <p:txBody>
          <a:bodyPr/>
          <a:lstStyle/>
          <a:p>
            <a:r>
              <a:rPr lang="en-US" dirty="0">
                <a:solidFill>
                  <a:srgbClr val="107573"/>
                </a:solidFill>
              </a:rPr>
              <a:t>Shipping Analysis and Payment Efficiency</a:t>
            </a:r>
          </a:p>
        </p:txBody>
      </p:sp>
      <p:pic>
        <p:nvPicPr>
          <p:cNvPr id="4" name="Content Placeholder 3" descr="A screenshot of a computer screen&#10;&#10;AI-generated content may be incorrect.">
            <a:extLst>
              <a:ext uri="{FF2B5EF4-FFF2-40B4-BE49-F238E27FC236}">
                <a16:creationId xmlns:a16="http://schemas.microsoft.com/office/drawing/2014/main" id="{18414227-9269-EF5B-F1B7-906254ACCE60}"/>
              </a:ext>
            </a:extLst>
          </p:cNvPr>
          <p:cNvPicPr>
            <a:picLocks noGrp="1" noChangeAspect="1"/>
          </p:cNvPicPr>
          <p:nvPr>
            <p:ph idx="1"/>
          </p:nvPr>
        </p:nvPicPr>
        <p:blipFill>
          <a:blip r:embed="rId2"/>
          <a:stretch>
            <a:fillRect/>
          </a:stretch>
        </p:blipFill>
        <p:spPr>
          <a:xfrm>
            <a:off x="255771" y="1283846"/>
            <a:ext cx="8387170" cy="4686975"/>
          </a:xfrm>
          <a:prstGeom prst="rect">
            <a:avLst/>
          </a:prstGeom>
          <a:ln>
            <a:solidFill>
              <a:schemeClr val="tx1"/>
            </a:solidFill>
          </a:ln>
        </p:spPr>
      </p:pic>
      <p:sp>
        <p:nvSpPr>
          <p:cNvPr id="3" name="TextBox 2">
            <a:extLst>
              <a:ext uri="{FF2B5EF4-FFF2-40B4-BE49-F238E27FC236}">
                <a16:creationId xmlns:a16="http://schemas.microsoft.com/office/drawing/2014/main" id="{1E62EE79-60DB-3730-D8E7-73B8F9779694}"/>
              </a:ext>
            </a:extLst>
          </p:cNvPr>
          <p:cNvSpPr txBox="1"/>
          <p:nvPr/>
        </p:nvSpPr>
        <p:spPr>
          <a:xfrm>
            <a:off x="8780861" y="1290711"/>
            <a:ext cx="3172261" cy="5032147"/>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Key Points:</a:t>
            </a:r>
          </a:p>
          <a:p>
            <a:pPr marL="228600" indent="-228600">
              <a:buFont typeface=""/>
              <a:buChar char="•"/>
            </a:pPr>
            <a:r>
              <a:rPr lang="en-US" sz="1600" dirty="0">
                <a:latin typeface="Calibri"/>
                <a:ea typeface="Calibri"/>
                <a:cs typeface="Calibri"/>
              </a:rPr>
              <a:t>Average shipping times: Standard class (8.43 days for Europe, 10.39 USCA), first/second class faster.</a:t>
            </a:r>
          </a:p>
          <a:p>
            <a:pPr marL="228600" indent="-228600">
              <a:buFont typeface=""/>
              <a:buChar char="•"/>
            </a:pPr>
            <a:r>
              <a:rPr lang="en-US" sz="1600" dirty="0">
                <a:latin typeface="Calibri"/>
                <a:ea typeface="Calibri"/>
                <a:cs typeface="Calibri"/>
              </a:rPr>
              <a:t>Payment methods: TRANSFER, DEBIT, CASH—Europe leans on DEBIT (376K), USCA varies (174K DEBIT, 42K CASH).</a:t>
            </a:r>
          </a:p>
          <a:p>
            <a:pPr marL="228600" indent="-228600">
              <a:buFont typeface=""/>
              <a:buChar char="•"/>
            </a:pPr>
            <a:r>
              <a:rPr lang="en-US" sz="1600" dirty="0">
                <a:latin typeface="Calibri"/>
                <a:ea typeface="Calibri"/>
                <a:cs typeface="Calibri"/>
              </a:rPr>
              <a:t>Order status breakdown (COMPLETE, PROCESSING, ON HOLD, </a:t>
            </a:r>
            <a:r>
              <a:rPr lang="en-US" sz="1600" dirty="0" err="1">
                <a:latin typeface="Calibri"/>
                <a:ea typeface="Calibri"/>
                <a:cs typeface="Calibri"/>
              </a:rPr>
              <a:t>etc</a:t>
            </a:r>
            <a:r>
              <a:rPr lang="en-US" sz="1600" dirty="0">
                <a:latin typeface="Calibri"/>
                <a:ea typeface="Calibri"/>
                <a:cs typeface="Calibri"/>
              </a:rPr>
              <a:t>).</a:t>
            </a:r>
          </a:p>
          <a:p>
            <a:r>
              <a:rPr lang="en-US" sz="1600" b="1" dirty="0">
                <a:latin typeface="Calibri"/>
                <a:ea typeface="Calibri"/>
                <a:cs typeface="Calibri"/>
              </a:rPr>
              <a:t>Summary:</a:t>
            </a:r>
            <a:br>
              <a:rPr lang="en-US" sz="1600" dirty="0">
                <a:latin typeface="Calibri"/>
                <a:ea typeface="Calibri"/>
                <a:cs typeface="Calibri"/>
              </a:rPr>
            </a:br>
            <a:r>
              <a:rPr lang="en-US" sz="1600" dirty="0">
                <a:latin typeface="Calibri"/>
                <a:ea typeface="Calibri"/>
                <a:cs typeface="Calibri"/>
              </a:rPr>
              <a:t>Shipping speed and payment choice directly impact customer satisfaction and business flow. Reducing shipping days and offering flexible payment options are opportunities for operational improvement.</a:t>
            </a:r>
          </a:p>
          <a:p>
            <a:pPr algn="ctr"/>
            <a:endParaRPr lang="en-US" sz="1600">
              <a:latin typeface="Calibri"/>
              <a:ea typeface="Calibri"/>
              <a:cs typeface="Calibri"/>
            </a:endParaRPr>
          </a:p>
        </p:txBody>
      </p:sp>
    </p:spTree>
    <p:extLst>
      <p:ext uri="{BB962C8B-B14F-4D97-AF65-F5344CB8AC3E}">
        <p14:creationId xmlns:p14="http://schemas.microsoft.com/office/powerpoint/2010/main" val="518617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C277-E203-8EFF-A6EE-47AE9C61B7E7}"/>
              </a:ext>
            </a:extLst>
          </p:cNvPr>
          <p:cNvSpPr>
            <a:spLocks noGrp="1"/>
          </p:cNvSpPr>
          <p:nvPr>
            <p:ph type="title"/>
          </p:nvPr>
        </p:nvSpPr>
        <p:spPr>
          <a:xfrm>
            <a:off x="112976" y="199308"/>
            <a:ext cx="7592210" cy="664364"/>
          </a:xfrm>
          <a:ln>
            <a:solidFill>
              <a:srgbClr val="4472C4"/>
            </a:solidFill>
          </a:ln>
        </p:spPr>
        <p:txBody>
          <a:bodyPr/>
          <a:lstStyle/>
          <a:p>
            <a:r>
              <a:rPr lang="en-US" dirty="0">
                <a:solidFill>
                  <a:srgbClr val="107573"/>
                </a:solidFill>
              </a:rPr>
              <a:t>Payment Method Status Analysis</a:t>
            </a:r>
          </a:p>
        </p:txBody>
      </p:sp>
      <p:pic>
        <p:nvPicPr>
          <p:cNvPr id="4" name="Content Placeholder 3" descr="A screenshot of a data report&#10;&#10;AI-generated content may be incorrect.">
            <a:extLst>
              <a:ext uri="{FF2B5EF4-FFF2-40B4-BE49-F238E27FC236}">
                <a16:creationId xmlns:a16="http://schemas.microsoft.com/office/drawing/2014/main" id="{1084D8F3-890C-44E8-98D0-8F47294A1C69}"/>
              </a:ext>
            </a:extLst>
          </p:cNvPr>
          <p:cNvPicPr>
            <a:picLocks noGrp="1" noChangeAspect="1"/>
          </p:cNvPicPr>
          <p:nvPr>
            <p:ph idx="1"/>
          </p:nvPr>
        </p:nvPicPr>
        <p:blipFill>
          <a:blip r:embed="rId2"/>
          <a:srcRect l="-38" r="470"/>
          <a:stretch>
            <a:fillRect/>
          </a:stretch>
        </p:blipFill>
        <p:spPr>
          <a:xfrm>
            <a:off x="113878" y="1337655"/>
            <a:ext cx="8330902" cy="4795164"/>
          </a:xfrm>
          <a:prstGeom prst="rect">
            <a:avLst/>
          </a:prstGeom>
          <a:ln>
            <a:solidFill>
              <a:schemeClr val="tx1"/>
            </a:solidFill>
          </a:ln>
        </p:spPr>
      </p:pic>
      <p:sp>
        <p:nvSpPr>
          <p:cNvPr id="3" name="TextBox 2">
            <a:extLst>
              <a:ext uri="{FF2B5EF4-FFF2-40B4-BE49-F238E27FC236}">
                <a16:creationId xmlns:a16="http://schemas.microsoft.com/office/drawing/2014/main" id="{E8AB30B4-71F3-E1B8-6BE3-25EF885D64D3}"/>
              </a:ext>
            </a:extLst>
          </p:cNvPr>
          <p:cNvSpPr txBox="1"/>
          <p:nvPr/>
        </p:nvSpPr>
        <p:spPr>
          <a:xfrm>
            <a:off x="8556008" y="1122839"/>
            <a:ext cx="3637526" cy="5016758"/>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latin typeface="Calibri"/>
                <a:ea typeface="Calibri"/>
                <a:cs typeface="Calibri"/>
              </a:rPr>
              <a:t>Key Points:</a:t>
            </a:r>
          </a:p>
          <a:p>
            <a:pPr marL="228600" indent="-228600">
              <a:buFont typeface=""/>
              <a:buChar char="•"/>
            </a:pPr>
            <a:r>
              <a:rPr lang="en-US" sz="1600" dirty="0">
                <a:latin typeface="Calibri"/>
                <a:ea typeface="Calibri"/>
                <a:cs typeface="Calibri"/>
              </a:rPr>
              <a:t>Sales breakdown by payment method: TRANSFER, PAYMENT, DEBIT, CASH—each showing different popularity by region.</a:t>
            </a:r>
          </a:p>
          <a:p>
            <a:pPr marL="228600" indent="-228600">
              <a:buFont typeface=""/>
              <a:buChar char="•"/>
            </a:pPr>
            <a:r>
              <a:rPr lang="en-US" sz="1600" dirty="0">
                <a:latin typeface="Calibri"/>
                <a:ea typeface="Calibri"/>
                <a:cs typeface="Calibri"/>
              </a:rPr>
              <a:t>DEBIT most popular in Europe (376K), moderate in USCA (174K).</a:t>
            </a:r>
          </a:p>
          <a:p>
            <a:pPr marL="228600" indent="-228600">
              <a:buFont typeface=""/>
              <a:buChar char="•"/>
            </a:pPr>
            <a:r>
              <a:rPr lang="en-US" sz="1600" dirty="0">
                <a:latin typeface="Calibri"/>
                <a:ea typeface="Calibri"/>
                <a:cs typeface="Calibri"/>
              </a:rPr>
              <a:t>Customer status grouped by order type and processing step; flagged issues are quantified (e.g. 24 average issues flagged).</a:t>
            </a:r>
          </a:p>
          <a:p>
            <a:r>
              <a:rPr lang="en-US" sz="1700" b="1" dirty="0">
                <a:latin typeface="Calibri"/>
                <a:ea typeface="Calibri"/>
                <a:cs typeface="Calibri"/>
              </a:rPr>
              <a:t>Summary:</a:t>
            </a:r>
            <a:br>
              <a:rPr lang="en-US" sz="1600" dirty="0">
                <a:latin typeface="Calibri"/>
                <a:ea typeface="Calibri"/>
                <a:cs typeface="Calibri"/>
              </a:rPr>
            </a:br>
            <a:r>
              <a:rPr lang="en-US" sz="1600" dirty="0">
                <a:latin typeface="Calibri"/>
                <a:ea typeface="Calibri"/>
                <a:cs typeface="Calibri"/>
              </a:rPr>
              <a:t>This dashboard provides a snapshot of payment method efficiency, lighting up trends in customer choice and potential issues in the transaction process. Optimizing these methods can lead to smoother operations and happier customers.</a:t>
            </a:r>
          </a:p>
          <a:p>
            <a:pPr algn="ctr"/>
            <a:endParaRPr lang="en-US" sz="1600">
              <a:latin typeface="Calibri"/>
              <a:ea typeface="Calibri"/>
              <a:cs typeface="Calibri"/>
            </a:endParaRPr>
          </a:p>
        </p:txBody>
      </p:sp>
    </p:spTree>
    <p:extLst>
      <p:ext uri="{BB962C8B-B14F-4D97-AF65-F5344CB8AC3E}">
        <p14:creationId xmlns:p14="http://schemas.microsoft.com/office/powerpoint/2010/main" val="3536140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FCE82-AB33-F785-876C-461A8193A0D2}"/>
              </a:ext>
            </a:extLst>
          </p:cNvPr>
          <p:cNvSpPr>
            <a:spLocks noGrp="1"/>
          </p:cNvSpPr>
          <p:nvPr>
            <p:ph idx="1"/>
          </p:nvPr>
        </p:nvSpPr>
        <p:spPr>
          <a:xfrm>
            <a:off x="750714" y="932055"/>
            <a:ext cx="10693684" cy="4660670"/>
          </a:xfrm>
          <a:solidFill>
            <a:schemeClr val="bg2">
              <a:lumMod val="90000"/>
            </a:schemeClr>
          </a:solidFill>
        </p:spPr>
        <p:txBody>
          <a:bodyPr vert="horz" lIns="91440" tIns="45720" rIns="91440" bIns="45720" rtlCol="0" anchor="t">
            <a:normAutofit/>
          </a:bodyPr>
          <a:lstStyle/>
          <a:p>
            <a:pPr algn="just"/>
            <a:r>
              <a:rPr lang="en-US" sz="2400" b="1">
                <a:latin typeface="Calibri"/>
                <a:ea typeface="Calibri"/>
                <a:cs typeface="Calibri"/>
              </a:rPr>
              <a:t>Conclusion:</a:t>
            </a:r>
            <a:endParaRPr lang="en-US" sz="2400"/>
          </a:p>
          <a:p>
            <a:pPr marL="228600" lvl="1" indent="0" algn="just">
              <a:buNone/>
            </a:pPr>
            <a:br>
              <a:rPr lang="en-US">
                <a:latin typeface="Calibri"/>
                <a:ea typeface="Calibri"/>
                <a:cs typeface="Calibri"/>
              </a:rPr>
            </a:br>
            <a:r>
              <a:rPr lang="en-US">
                <a:latin typeface="Calibri"/>
                <a:ea typeface="Calibri"/>
                <a:cs typeface="Calibri"/>
              </a:rPr>
              <a:t>The supply chain is strongest in the US and France, where sales, margins, and customer engagement are highest. Key product lines deliver most of the value so focus should remain on optimizing successful products and re-evaluating underperformers. Improvements in shipping speed and adaption to regional payment preferences can further boost satisfaction. Regularly monitoring sales trends, discount strategies, and flagged workflow or payment issues will keep operations efficient and responsive. Strategic investment in primary markets and a data-driven approach to product, shipping, and payment management are essential for sustainable growth and a competitive edge.</a:t>
            </a:r>
            <a:endParaRPr lang="en-US"/>
          </a:p>
        </p:txBody>
      </p:sp>
    </p:spTree>
    <p:extLst>
      <p:ext uri="{BB962C8B-B14F-4D97-AF65-F5344CB8AC3E}">
        <p14:creationId xmlns:p14="http://schemas.microsoft.com/office/powerpoint/2010/main" val="360610991"/>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VanillaVTI</vt:lpstr>
      <vt:lpstr>Logistics_Supply_Chain_Analysis</vt:lpstr>
      <vt:lpstr>Total Analysis by Country</vt:lpstr>
      <vt:lpstr>Global Sales &amp; Profit Overview </vt:lpstr>
      <vt:lpstr>Order Item Analysis</vt:lpstr>
      <vt:lpstr>Top &amp; Bottom Product Analysis</vt:lpstr>
      <vt:lpstr>Product Analysis</vt:lpstr>
      <vt:lpstr>Shipping Analysis and Payment Efficiency</vt:lpstr>
      <vt:lpstr>Payment Method Status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283</cp:revision>
  <dcterms:created xsi:type="dcterms:W3CDTF">2025-10-24T10:31:03Z</dcterms:created>
  <dcterms:modified xsi:type="dcterms:W3CDTF">2025-10-28T16:04:18Z</dcterms:modified>
</cp:coreProperties>
</file>